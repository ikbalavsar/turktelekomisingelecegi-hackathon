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60" r:id="rId2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B8C4"/>
    <a:srgbClr val="2082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40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ECC764-4B69-4784-8168-437990535434}" type="datetimeFigureOut">
              <a:rPr lang="tr-TR" smtClean="0"/>
              <a:t>21.05.2021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AB614F-C5D2-4A47-9B94-1B4D8993AB6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85004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err="1" smtClean="0"/>
              <a:t>Controle</a:t>
            </a:r>
            <a:r>
              <a:rPr lang="tr-TR" dirty="0" smtClean="0"/>
              <a:t> basılı tutup çekince kopyalıyor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2A268E-4E37-4C4D-B561-07C8AEA26247}" type="slidenum">
              <a:rPr kumimoji="0" lang="tr-T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tr-T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9679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tıklatın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2B2DB-CB3C-4E80-B687-8029971EF783}" type="datetimeFigureOut">
              <a:rPr lang="tr-TR" smtClean="0"/>
              <a:t>21.05.2021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7F4B5-46DE-4569-8AE8-03A9731AA6F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8326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2B2DB-CB3C-4E80-B687-8029971EF783}" type="datetimeFigureOut">
              <a:rPr lang="tr-TR" smtClean="0"/>
              <a:t>21.05.2021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7F4B5-46DE-4569-8AE8-03A9731AA6F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6334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2B2DB-CB3C-4E80-B687-8029971EF783}" type="datetimeFigureOut">
              <a:rPr lang="tr-TR" smtClean="0"/>
              <a:t>21.05.2021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7F4B5-46DE-4569-8AE8-03A9731AA6F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35042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2B2DB-CB3C-4E80-B687-8029971EF783}" type="datetimeFigureOut">
              <a:rPr lang="tr-TR" smtClean="0"/>
              <a:t>21.05.2021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7F4B5-46DE-4569-8AE8-03A9731AA6F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46904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2B2DB-CB3C-4E80-B687-8029971EF783}" type="datetimeFigureOut">
              <a:rPr lang="tr-TR" smtClean="0"/>
              <a:t>21.05.2021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7F4B5-46DE-4569-8AE8-03A9731AA6F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74499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2B2DB-CB3C-4E80-B687-8029971EF783}" type="datetimeFigureOut">
              <a:rPr lang="tr-TR" smtClean="0"/>
              <a:t>21.05.2021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7F4B5-46DE-4569-8AE8-03A9731AA6F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3647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2B2DB-CB3C-4E80-B687-8029971EF783}" type="datetimeFigureOut">
              <a:rPr lang="tr-TR" smtClean="0"/>
              <a:t>21.05.2021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7F4B5-46DE-4569-8AE8-03A9731AA6F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08186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2B2DB-CB3C-4E80-B687-8029971EF783}" type="datetimeFigureOut">
              <a:rPr lang="tr-TR" smtClean="0"/>
              <a:t>21.05.2021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7F4B5-46DE-4569-8AE8-03A9731AA6F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52536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2B2DB-CB3C-4E80-B687-8029971EF783}" type="datetimeFigureOut">
              <a:rPr lang="tr-TR" smtClean="0"/>
              <a:t>21.05.2021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7F4B5-46DE-4569-8AE8-03A9731AA6F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86026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2B2DB-CB3C-4E80-B687-8029971EF783}" type="datetimeFigureOut">
              <a:rPr lang="tr-TR" smtClean="0"/>
              <a:t>21.05.2021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7F4B5-46DE-4569-8AE8-03A9731AA6F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68912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2B2DB-CB3C-4E80-B687-8029971EF783}" type="datetimeFigureOut">
              <a:rPr lang="tr-TR" smtClean="0"/>
              <a:t>21.05.2021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7F4B5-46DE-4569-8AE8-03A9731AA6F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28404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2B2DB-CB3C-4E80-B687-8029971EF783}" type="datetimeFigureOut">
              <a:rPr lang="tr-TR" smtClean="0"/>
              <a:t>21.05.2021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57F4B5-46DE-4569-8AE8-03A9731AA6F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7999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4">
            <a:extLst>
              <a:ext uri="{FF2B5EF4-FFF2-40B4-BE49-F238E27FC236}">
                <a16:creationId xmlns:a16="http://schemas.microsoft.com/office/drawing/2014/main" id="{098F7B9E-96E0-4A3E-8DF2-9E7F16DB7A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1329" y="-477928"/>
            <a:ext cx="7318799" cy="5700219"/>
          </a:xfrm>
          <a:prstGeom prst="rect">
            <a:avLst/>
          </a:prstGeom>
        </p:spPr>
      </p:pic>
      <p:pic>
        <p:nvPicPr>
          <p:cNvPr id="8" name="Resim 6">
            <a:extLst>
              <a:ext uri="{FF2B5EF4-FFF2-40B4-BE49-F238E27FC236}">
                <a16:creationId xmlns:a16="http://schemas.microsoft.com/office/drawing/2014/main" id="{6E797851-5B63-43D2-AF78-74DFC195C52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462" y="1697802"/>
            <a:ext cx="2482641" cy="1059109"/>
          </a:xfrm>
          <a:prstGeom prst="rect">
            <a:avLst/>
          </a:prstGeom>
        </p:spPr>
      </p:pic>
      <p:pic>
        <p:nvPicPr>
          <p:cNvPr id="10" name="Resim 13">
            <a:extLst>
              <a:ext uri="{FF2B5EF4-FFF2-40B4-BE49-F238E27FC236}">
                <a16:creationId xmlns:a16="http://schemas.microsoft.com/office/drawing/2014/main" id="{DDE9B83C-69E4-4FC8-86F2-C9EE952E04B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8" y="1352371"/>
            <a:ext cx="557544" cy="557544"/>
          </a:xfrm>
          <a:prstGeom prst="rect">
            <a:avLst/>
          </a:prstGeom>
        </p:spPr>
      </p:pic>
      <p:pic>
        <p:nvPicPr>
          <p:cNvPr id="11" name="Resim 15">
            <a:extLst>
              <a:ext uri="{FF2B5EF4-FFF2-40B4-BE49-F238E27FC236}">
                <a16:creationId xmlns:a16="http://schemas.microsoft.com/office/drawing/2014/main" id="{760BE3CE-AC35-48D5-9805-706400C32AE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500" y="67619"/>
            <a:ext cx="739206" cy="739206"/>
          </a:xfrm>
          <a:prstGeom prst="rect">
            <a:avLst/>
          </a:prstGeom>
        </p:spPr>
      </p:pic>
      <p:pic>
        <p:nvPicPr>
          <p:cNvPr id="12" name="Resim 17">
            <a:extLst>
              <a:ext uri="{FF2B5EF4-FFF2-40B4-BE49-F238E27FC236}">
                <a16:creationId xmlns:a16="http://schemas.microsoft.com/office/drawing/2014/main" id="{8C610C2F-0F80-4FD4-813D-51754228950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626" y="3402907"/>
            <a:ext cx="657014" cy="657014"/>
          </a:xfrm>
          <a:prstGeom prst="rect">
            <a:avLst/>
          </a:prstGeom>
        </p:spPr>
      </p:pic>
      <p:pic>
        <p:nvPicPr>
          <p:cNvPr id="13" name="Resim 19">
            <a:extLst>
              <a:ext uri="{FF2B5EF4-FFF2-40B4-BE49-F238E27FC236}">
                <a16:creationId xmlns:a16="http://schemas.microsoft.com/office/drawing/2014/main" id="{723EFEE7-C0B7-4EF9-971E-91826B646B5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562" y="6237837"/>
            <a:ext cx="355725" cy="355725"/>
          </a:xfrm>
          <a:prstGeom prst="rect">
            <a:avLst/>
          </a:prstGeom>
        </p:spPr>
      </p:pic>
      <p:pic>
        <p:nvPicPr>
          <p:cNvPr id="14" name="Resim 23">
            <a:extLst>
              <a:ext uri="{FF2B5EF4-FFF2-40B4-BE49-F238E27FC236}">
                <a16:creationId xmlns:a16="http://schemas.microsoft.com/office/drawing/2014/main" id="{672C8767-7CCA-4EFA-A30C-BF1B74CF91F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964" y="5776471"/>
            <a:ext cx="639230" cy="639230"/>
          </a:xfrm>
          <a:prstGeom prst="rect">
            <a:avLst/>
          </a:prstGeom>
        </p:spPr>
      </p:pic>
      <p:sp>
        <p:nvSpPr>
          <p:cNvPr id="15" name="Metin kutusu 24">
            <a:extLst>
              <a:ext uri="{FF2B5EF4-FFF2-40B4-BE49-F238E27FC236}">
                <a16:creationId xmlns:a16="http://schemas.microsoft.com/office/drawing/2014/main" id="{31C89BA4-06A3-4D86-B300-C687F9339594}"/>
              </a:ext>
            </a:extLst>
          </p:cNvPr>
          <p:cNvSpPr txBox="1"/>
          <p:nvPr/>
        </p:nvSpPr>
        <p:spPr>
          <a:xfrm>
            <a:off x="4153227" y="1909915"/>
            <a:ext cx="5494624" cy="1630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80"/>
            <a:r>
              <a:rPr lang="en-US" sz="1999" dirty="0" err="1">
                <a:solidFill>
                  <a:srgbClr val="E54133"/>
                </a:solidFill>
                <a:latin typeface="CentraleSans XBold" pitchFamily="50" charset="-94"/>
              </a:rPr>
              <a:t>Çalışma</a:t>
            </a:r>
            <a:r>
              <a:rPr lang="en-US" sz="1999" dirty="0">
                <a:solidFill>
                  <a:srgbClr val="E54133"/>
                </a:solidFill>
                <a:latin typeface="CentraleSans XBold" pitchFamily="50" charset="-94"/>
              </a:rPr>
              <a:t> </a:t>
            </a:r>
            <a:r>
              <a:rPr lang="en-US" sz="1999" dirty="0" err="1">
                <a:solidFill>
                  <a:srgbClr val="E54133"/>
                </a:solidFill>
                <a:latin typeface="CentraleSans XBold" pitchFamily="50" charset="-94"/>
              </a:rPr>
              <a:t>hayatının</a:t>
            </a:r>
            <a:r>
              <a:rPr lang="en-US" sz="1999" dirty="0">
                <a:solidFill>
                  <a:srgbClr val="E54133"/>
                </a:solidFill>
                <a:latin typeface="CentraleSans XBold" pitchFamily="50" charset="-94"/>
              </a:rPr>
              <a:t> yeni </a:t>
            </a:r>
            <a:r>
              <a:rPr lang="en-US" sz="1999" dirty="0" err="1">
                <a:solidFill>
                  <a:srgbClr val="E54133"/>
                </a:solidFill>
                <a:latin typeface="CentraleSans XBold" pitchFamily="50" charset="-94"/>
              </a:rPr>
              <a:t>normalinde</a:t>
            </a:r>
            <a:r>
              <a:rPr lang="tr-TR" sz="1999" dirty="0">
                <a:solidFill>
                  <a:srgbClr val="E54133"/>
                </a:solidFill>
                <a:latin typeface="CentraleSans XBold" pitchFamily="50" charset="-94"/>
              </a:rPr>
              <a:t> </a:t>
            </a:r>
            <a:r>
              <a:rPr lang="en-US" sz="1999" dirty="0">
                <a:solidFill>
                  <a:srgbClr val="E54133"/>
                </a:solidFill>
                <a:latin typeface="CentraleSans XBold" pitchFamily="50" charset="-94"/>
              </a:rPr>
              <a:t>ve</a:t>
            </a:r>
            <a:r>
              <a:rPr lang="tr-TR" sz="1999" dirty="0">
                <a:solidFill>
                  <a:srgbClr val="E54133"/>
                </a:solidFill>
                <a:latin typeface="CentraleSans XBold" pitchFamily="50" charset="-94"/>
              </a:rPr>
              <a:t> </a:t>
            </a:r>
            <a:r>
              <a:rPr lang="en-US" sz="1999" dirty="0" err="1" smtClean="0">
                <a:solidFill>
                  <a:srgbClr val="E54133"/>
                </a:solidFill>
                <a:latin typeface="CentraleSans XBold" pitchFamily="50" charset="-94"/>
              </a:rPr>
              <a:t>geleceğinde</a:t>
            </a:r>
            <a:r>
              <a:rPr lang="tr-TR" sz="1999" dirty="0" smtClean="0">
                <a:solidFill>
                  <a:srgbClr val="E54133"/>
                </a:solidFill>
                <a:latin typeface="CentraleSans XBold" pitchFamily="50" charset="-94"/>
              </a:rPr>
              <a:t>,</a:t>
            </a:r>
            <a:endParaRPr lang="tr-TR" sz="1999" dirty="0">
              <a:solidFill>
                <a:srgbClr val="E54133"/>
              </a:solidFill>
              <a:latin typeface="CentraleSans XBold" pitchFamily="50" charset="-94"/>
            </a:endParaRPr>
          </a:p>
          <a:p>
            <a:pPr defTabSz="914080"/>
            <a:r>
              <a:rPr lang="en-US" sz="1999" u="sng" dirty="0" err="1">
                <a:solidFill>
                  <a:srgbClr val="E54133"/>
                </a:solidFill>
                <a:latin typeface="CentraleSans XBold" pitchFamily="50" charset="-94"/>
              </a:rPr>
              <a:t>çalışan</a:t>
            </a:r>
            <a:r>
              <a:rPr lang="en-US" sz="1999" u="sng" dirty="0">
                <a:solidFill>
                  <a:srgbClr val="E54133"/>
                </a:solidFill>
                <a:latin typeface="CentraleSans XBold" pitchFamily="50" charset="-94"/>
              </a:rPr>
              <a:t> </a:t>
            </a:r>
            <a:r>
              <a:rPr lang="en-US" sz="1999" u="sng" dirty="0" err="1">
                <a:solidFill>
                  <a:srgbClr val="E54133"/>
                </a:solidFill>
                <a:latin typeface="CentraleSans XBold" pitchFamily="50" charset="-94"/>
              </a:rPr>
              <a:t>bağlılığını</a:t>
            </a:r>
            <a:r>
              <a:rPr lang="en-US" sz="1999" u="sng" dirty="0">
                <a:solidFill>
                  <a:srgbClr val="E54133"/>
                </a:solidFill>
                <a:latin typeface="CentraleSans XBold" pitchFamily="50" charset="-94"/>
              </a:rPr>
              <a:t> </a:t>
            </a:r>
            <a:r>
              <a:rPr lang="en-US" sz="1999" dirty="0">
                <a:solidFill>
                  <a:srgbClr val="E54133"/>
                </a:solidFill>
                <a:latin typeface="CentraleSans XBold" pitchFamily="50" charset="-94"/>
              </a:rPr>
              <a:t>ve</a:t>
            </a:r>
            <a:r>
              <a:rPr lang="tr-TR" sz="1999" dirty="0">
                <a:solidFill>
                  <a:srgbClr val="E54133"/>
                </a:solidFill>
                <a:latin typeface="CentraleSans XBold" pitchFamily="50" charset="-94"/>
              </a:rPr>
              <a:t> </a:t>
            </a:r>
            <a:r>
              <a:rPr lang="en-US" sz="1999" u="sng" dirty="0" err="1" smtClean="0">
                <a:solidFill>
                  <a:srgbClr val="E54133"/>
                </a:solidFill>
                <a:latin typeface="CentraleSans XBold" pitchFamily="50" charset="-94"/>
              </a:rPr>
              <a:t>memnuniyetini</a:t>
            </a:r>
            <a:endParaRPr lang="tr-TR" sz="1999" u="sng" dirty="0">
              <a:solidFill>
                <a:srgbClr val="E54133"/>
              </a:solidFill>
              <a:latin typeface="CentraleSans XBold" pitchFamily="50" charset="-94"/>
            </a:endParaRPr>
          </a:p>
          <a:p>
            <a:pPr defTabSz="914080"/>
            <a:r>
              <a:rPr lang="tr-TR" sz="1999" dirty="0" smtClean="0">
                <a:solidFill>
                  <a:srgbClr val="E54133"/>
                </a:solidFill>
                <a:latin typeface="CentraleSans XBold" pitchFamily="50" charset="-94"/>
              </a:rPr>
              <a:t>a</a:t>
            </a:r>
            <a:r>
              <a:rPr lang="en-US" sz="1999" dirty="0" err="1" smtClean="0">
                <a:solidFill>
                  <a:srgbClr val="E54133"/>
                </a:solidFill>
                <a:latin typeface="CentraleSans XBold" pitchFamily="50" charset="-94"/>
              </a:rPr>
              <a:t>rttırabilecek</a:t>
            </a:r>
            <a:r>
              <a:rPr lang="tr-TR" sz="1999" dirty="0" smtClean="0">
                <a:solidFill>
                  <a:srgbClr val="E54133"/>
                </a:solidFill>
                <a:latin typeface="CentraleSans XBold" pitchFamily="50" charset="-94"/>
              </a:rPr>
              <a:t>, çalışma verimliliğini geliştirecek</a:t>
            </a:r>
            <a:r>
              <a:rPr lang="en-US" sz="1999" dirty="0" smtClean="0">
                <a:solidFill>
                  <a:srgbClr val="E54133"/>
                </a:solidFill>
                <a:latin typeface="CentraleSans XBold" pitchFamily="50" charset="-94"/>
              </a:rPr>
              <a:t> </a:t>
            </a:r>
            <a:r>
              <a:rPr lang="en-US" sz="1999" dirty="0" err="1">
                <a:solidFill>
                  <a:srgbClr val="E54133"/>
                </a:solidFill>
                <a:latin typeface="CentraleSans XBold" pitchFamily="50" charset="-94"/>
              </a:rPr>
              <a:t>uygulamalar</a:t>
            </a:r>
            <a:r>
              <a:rPr lang="tr-TR" sz="1999" dirty="0">
                <a:solidFill>
                  <a:srgbClr val="E54133"/>
                </a:solidFill>
                <a:latin typeface="CentraleSans XBold" pitchFamily="50" charset="-94"/>
              </a:rPr>
              <a:t> neler olabilir?</a:t>
            </a:r>
          </a:p>
        </p:txBody>
      </p:sp>
      <p:sp>
        <p:nvSpPr>
          <p:cNvPr id="16" name="Metin kutusu 25">
            <a:extLst>
              <a:ext uri="{FF2B5EF4-FFF2-40B4-BE49-F238E27FC236}">
                <a16:creationId xmlns:a16="http://schemas.microsoft.com/office/drawing/2014/main" id="{F8BF3F51-ACEA-4159-934E-819EB34C35C1}"/>
              </a:ext>
            </a:extLst>
          </p:cNvPr>
          <p:cNvSpPr txBox="1"/>
          <p:nvPr/>
        </p:nvSpPr>
        <p:spPr>
          <a:xfrm>
            <a:off x="1758595" y="4130813"/>
            <a:ext cx="7272629" cy="2676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520" indent="-228520" defTabSz="914080">
              <a:buFontTx/>
              <a:buAutoNum type="arabicPeriod"/>
            </a:pPr>
            <a:r>
              <a:rPr lang="tr-TR" sz="1399" dirty="0">
                <a:solidFill>
                  <a:srgbClr val="002F51"/>
                </a:solidFill>
                <a:latin typeface="CentraleSans XBold" pitchFamily="50" charset="-94"/>
              </a:rPr>
              <a:t>Beyin Fırtınası </a:t>
            </a:r>
            <a:r>
              <a:rPr lang="tr-TR" sz="1399" dirty="0" smtClean="0">
                <a:solidFill>
                  <a:srgbClr val="002F51"/>
                </a:solidFill>
                <a:latin typeface="CentraleSans XBold" pitchFamily="50" charset="-94"/>
              </a:rPr>
              <a:t>| </a:t>
            </a:r>
            <a:r>
              <a:rPr lang="tr-TR" sz="1399" dirty="0">
                <a:solidFill>
                  <a:srgbClr val="002F51"/>
                </a:solidFill>
                <a:latin typeface="CentraleSans XBold" pitchFamily="50" charset="-94"/>
              </a:rPr>
              <a:t>Yaratıcı Fikirlerin Online Ortamda </a:t>
            </a:r>
            <a:r>
              <a:rPr lang="tr-TR" sz="1399" dirty="0" smtClean="0">
                <a:solidFill>
                  <a:srgbClr val="002F51"/>
                </a:solidFill>
                <a:latin typeface="CentraleSans XBold" pitchFamily="50" charset="-94"/>
              </a:rPr>
              <a:t>Geliştirilmesi: </a:t>
            </a:r>
            <a:r>
              <a:rPr lang="tr-TR" sz="1399" dirty="0" err="1">
                <a:solidFill>
                  <a:srgbClr val="002F51"/>
                </a:solidFill>
                <a:latin typeface="CentraleSans Medium" pitchFamily="50" charset="-94"/>
              </a:rPr>
              <a:t>Zoom</a:t>
            </a:r>
            <a:r>
              <a:rPr lang="tr-TR" sz="1399" dirty="0">
                <a:solidFill>
                  <a:srgbClr val="002F51"/>
                </a:solidFill>
                <a:latin typeface="CentraleSans Medium" pitchFamily="50" charset="-94"/>
              </a:rPr>
              <a:t>, Skype, </a:t>
            </a:r>
            <a:r>
              <a:rPr lang="tr-TR" sz="1399" dirty="0" smtClean="0">
                <a:solidFill>
                  <a:srgbClr val="002F51"/>
                </a:solidFill>
                <a:latin typeface="CentraleSans Medium" pitchFamily="50" charset="-94"/>
              </a:rPr>
              <a:t>diğer video </a:t>
            </a:r>
            <a:r>
              <a:rPr lang="tr-TR" sz="1399" dirty="0">
                <a:solidFill>
                  <a:srgbClr val="002F51"/>
                </a:solidFill>
                <a:latin typeface="CentraleSans Medium" pitchFamily="50" charset="-94"/>
              </a:rPr>
              <a:t>konferans sistemleri… Hiç biri bir toplantı odasında masanın etrafında yaptığımız </a:t>
            </a:r>
            <a:r>
              <a:rPr lang="tr-TR" sz="1399" dirty="0" smtClean="0">
                <a:solidFill>
                  <a:srgbClr val="002F51"/>
                </a:solidFill>
                <a:latin typeface="CentraleSans Medium" pitchFamily="50" charset="-94"/>
              </a:rPr>
              <a:t>yaratıcı beyin fırtınalarını yapabilmemize pek de imkan tanımıyor. Beyin fırtınası yapmamıza olanak sağlayan bir uygulama nasıl olabilir?</a:t>
            </a:r>
            <a:endParaRPr lang="tr-TR" sz="1399" dirty="0">
              <a:solidFill>
                <a:srgbClr val="002F51"/>
              </a:solidFill>
              <a:latin typeface="CentraleSans Medium" pitchFamily="50" charset="-94"/>
            </a:endParaRPr>
          </a:p>
          <a:p>
            <a:pPr marL="228520" indent="-228520" defTabSz="914080">
              <a:buFontTx/>
              <a:buAutoNum type="arabicPeriod"/>
            </a:pPr>
            <a:endParaRPr lang="tr-TR" sz="1399" b="1" dirty="0">
              <a:solidFill>
                <a:srgbClr val="002F51"/>
              </a:solidFill>
              <a:latin typeface="CentraleSans XBold" pitchFamily="50" charset="-94"/>
            </a:endParaRPr>
          </a:p>
          <a:p>
            <a:pPr marL="228520" indent="-228520" defTabSz="914080">
              <a:buFontTx/>
              <a:buAutoNum type="arabicPeriod"/>
            </a:pPr>
            <a:r>
              <a:rPr lang="tr-TR" sz="1399" dirty="0" err="1">
                <a:solidFill>
                  <a:srgbClr val="002F51"/>
                </a:solidFill>
                <a:latin typeface="CentraleSans XBold" pitchFamily="50" charset="-94"/>
              </a:rPr>
              <a:t>Taskle</a:t>
            </a:r>
            <a:r>
              <a:rPr lang="en-US" sz="1399" dirty="0" err="1">
                <a:solidFill>
                  <a:srgbClr val="002F51"/>
                </a:solidFill>
                <a:latin typeface="CentraleSans XBold" pitchFamily="50" charset="-94"/>
              </a:rPr>
              <a:t>rin</a:t>
            </a:r>
            <a:r>
              <a:rPr lang="en-US" sz="1399" dirty="0">
                <a:solidFill>
                  <a:srgbClr val="002F51"/>
                </a:solidFill>
                <a:latin typeface="CentraleSans XBold" pitchFamily="50" charset="-94"/>
              </a:rPr>
              <a:t> </a:t>
            </a:r>
            <a:r>
              <a:rPr lang="en-US" sz="1399" dirty="0" err="1">
                <a:solidFill>
                  <a:srgbClr val="002F51"/>
                </a:solidFill>
                <a:latin typeface="CentraleSans XBold" pitchFamily="50" charset="-94"/>
              </a:rPr>
              <a:t>Oyunlaştırılması</a:t>
            </a:r>
            <a:r>
              <a:rPr lang="en-US" sz="1399" dirty="0">
                <a:solidFill>
                  <a:srgbClr val="002F51"/>
                </a:solidFill>
                <a:latin typeface="CentraleSans XBold" pitchFamily="50" charset="-94"/>
              </a:rPr>
              <a:t> : </a:t>
            </a:r>
            <a:r>
              <a:rPr lang="en-US" sz="1399" dirty="0">
                <a:solidFill>
                  <a:srgbClr val="002F51"/>
                </a:solidFill>
                <a:latin typeface="CentraleSans Medium" pitchFamily="50" charset="-94"/>
              </a:rPr>
              <a:t>Çalışma </a:t>
            </a:r>
            <a:r>
              <a:rPr lang="en-US" sz="1399" dirty="0" err="1">
                <a:solidFill>
                  <a:srgbClr val="002F51"/>
                </a:solidFill>
                <a:latin typeface="CentraleSans Medium" pitchFamily="50" charset="-94"/>
              </a:rPr>
              <a:t>hayatında</a:t>
            </a:r>
            <a:r>
              <a:rPr lang="en-US" sz="1399" dirty="0">
                <a:solidFill>
                  <a:srgbClr val="002F51"/>
                </a:solidFill>
                <a:latin typeface="CentraleSans Medium" pitchFamily="50" charset="-94"/>
              </a:rPr>
              <a:t>, </a:t>
            </a:r>
            <a:r>
              <a:rPr lang="en-US" sz="1399" dirty="0" err="1">
                <a:solidFill>
                  <a:srgbClr val="002F51"/>
                </a:solidFill>
                <a:latin typeface="CentraleSans Medium" pitchFamily="50" charset="-94"/>
              </a:rPr>
              <a:t>görevleri</a:t>
            </a:r>
            <a:r>
              <a:rPr lang="en-US" sz="1399" dirty="0">
                <a:solidFill>
                  <a:srgbClr val="002F51"/>
                </a:solidFill>
                <a:latin typeface="CentraleSans Medium" pitchFamily="50" charset="-94"/>
              </a:rPr>
              <a:t> daha </a:t>
            </a:r>
            <a:r>
              <a:rPr lang="en-US" sz="1399" dirty="0" err="1">
                <a:solidFill>
                  <a:srgbClr val="002F51"/>
                </a:solidFill>
                <a:latin typeface="CentraleSans Medium" pitchFamily="50" charset="-94"/>
              </a:rPr>
              <a:t>eğlenceli</a:t>
            </a:r>
            <a:r>
              <a:rPr lang="en-US" sz="1399" dirty="0">
                <a:solidFill>
                  <a:srgbClr val="002F51"/>
                </a:solidFill>
                <a:latin typeface="CentraleSans Medium" pitchFamily="50" charset="-94"/>
              </a:rPr>
              <a:t> hale </a:t>
            </a:r>
            <a:r>
              <a:rPr lang="en-US" sz="1399" dirty="0" err="1" smtClean="0">
                <a:solidFill>
                  <a:srgbClr val="002F51"/>
                </a:solidFill>
                <a:latin typeface="CentraleSans Medium" pitchFamily="50" charset="-94"/>
              </a:rPr>
              <a:t>getir</a:t>
            </a:r>
            <a:r>
              <a:rPr lang="tr-TR" sz="1399" dirty="0" err="1" smtClean="0">
                <a:solidFill>
                  <a:srgbClr val="002F51"/>
                </a:solidFill>
                <a:latin typeface="CentraleSans Medium" pitchFamily="50" charset="-94"/>
              </a:rPr>
              <a:t>mek</a:t>
            </a:r>
            <a:r>
              <a:rPr lang="tr-TR" sz="1399" dirty="0" smtClean="0">
                <a:solidFill>
                  <a:srgbClr val="002F51"/>
                </a:solidFill>
                <a:latin typeface="CentraleSans Medium" pitchFamily="50" charset="-94"/>
              </a:rPr>
              <a:t>, arada mesafeler olsa da takım üyelerinin hedefler ulaşma motivasyonu artırmak hangi uygulamalarla mümkün olur?</a:t>
            </a:r>
            <a:r>
              <a:rPr lang="en-US" sz="1399" dirty="0">
                <a:solidFill>
                  <a:srgbClr val="002F51"/>
                </a:solidFill>
                <a:latin typeface="CentraleSans Medium" pitchFamily="50" charset="-94"/>
              </a:rPr>
              <a:t/>
            </a:r>
            <a:br>
              <a:rPr lang="en-US" sz="1399" dirty="0">
                <a:solidFill>
                  <a:srgbClr val="002F51"/>
                </a:solidFill>
                <a:latin typeface="CentraleSans Medium" pitchFamily="50" charset="-94"/>
              </a:rPr>
            </a:br>
            <a:endParaRPr lang="tr-TR" sz="1399" dirty="0">
              <a:solidFill>
                <a:srgbClr val="002F51"/>
              </a:solidFill>
              <a:latin typeface="CentraleSans Medium" pitchFamily="50" charset="-94"/>
            </a:endParaRPr>
          </a:p>
          <a:p>
            <a:pPr marL="228520" indent="-228520" defTabSz="914080">
              <a:buFontTx/>
              <a:buAutoNum type="arabicPeriod"/>
            </a:pPr>
            <a:r>
              <a:rPr lang="en-US" sz="1399" dirty="0" err="1">
                <a:solidFill>
                  <a:srgbClr val="002F51"/>
                </a:solidFill>
                <a:latin typeface="CentraleSans XBold" pitchFamily="50" charset="-94"/>
              </a:rPr>
              <a:t>Paylaşımlar</a:t>
            </a:r>
            <a:r>
              <a:rPr lang="en-US" sz="1399" dirty="0">
                <a:solidFill>
                  <a:srgbClr val="002F51"/>
                </a:solidFill>
                <a:latin typeface="CentraleSans XBold" pitchFamily="50" charset="-94"/>
              </a:rPr>
              <a:t> </a:t>
            </a:r>
            <a:r>
              <a:rPr lang="tr-TR" sz="1399" dirty="0">
                <a:solidFill>
                  <a:srgbClr val="002F51"/>
                </a:solidFill>
                <a:latin typeface="CentraleSans XBold" pitchFamily="50" charset="-94"/>
              </a:rPr>
              <a:t>| </a:t>
            </a:r>
            <a:r>
              <a:rPr lang="en-US" sz="1399" dirty="0" err="1">
                <a:solidFill>
                  <a:srgbClr val="002F51"/>
                </a:solidFill>
                <a:latin typeface="CentraleSans XBold" pitchFamily="50" charset="-94"/>
              </a:rPr>
              <a:t>Sosyalleşme</a:t>
            </a:r>
            <a:r>
              <a:rPr lang="en-US" sz="1399" dirty="0">
                <a:solidFill>
                  <a:srgbClr val="002F51"/>
                </a:solidFill>
                <a:latin typeface="CentraleSans XBold" pitchFamily="50" charset="-94"/>
              </a:rPr>
              <a:t>: </a:t>
            </a:r>
            <a:r>
              <a:rPr lang="en-US" sz="1399" dirty="0">
                <a:solidFill>
                  <a:srgbClr val="002F51"/>
                </a:solidFill>
                <a:latin typeface="CentraleSans Medium" pitchFamily="50" charset="-94"/>
              </a:rPr>
              <a:t> </a:t>
            </a:r>
            <a:r>
              <a:rPr lang="tr-TR" sz="1399" dirty="0" smtClean="0">
                <a:solidFill>
                  <a:srgbClr val="002F51"/>
                </a:solidFill>
                <a:latin typeface="CentraleSans Medium" pitchFamily="50" charset="-94"/>
              </a:rPr>
              <a:t>Çalışma arkadaşlarımızla kısa kahve molalarına hasret kaldığımız günler yaşıyoruz. Uzaktan </a:t>
            </a:r>
            <a:r>
              <a:rPr lang="tr-TR" sz="1399" dirty="0">
                <a:solidFill>
                  <a:srgbClr val="002F51"/>
                </a:solidFill>
                <a:latin typeface="CentraleSans Medium" pitchFamily="50" charset="-94"/>
              </a:rPr>
              <a:t>çalışma hayatında sosyalleşme </a:t>
            </a:r>
            <a:r>
              <a:rPr lang="tr-TR" sz="1399" dirty="0" smtClean="0">
                <a:solidFill>
                  <a:srgbClr val="002F51"/>
                </a:solidFill>
                <a:latin typeface="CentraleSans Medium" pitchFamily="50" charset="-94"/>
              </a:rPr>
              <a:t>ve paylaşım nasıl </a:t>
            </a:r>
            <a:r>
              <a:rPr lang="tr-TR" sz="1399" dirty="0">
                <a:solidFill>
                  <a:srgbClr val="002F51"/>
                </a:solidFill>
                <a:latin typeface="CentraleSans Medium" pitchFamily="50" charset="-94"/>
              </a:rPr>
              <a:t>sağlanır</a:t>
            </a:r>
            <a:r>
              <a:rPr lang="tr-TR" sz="1399" dirty="0" smtClean="0">
                <a:solidFill>
                  <a:srgbClr val="002F51"/>
                </a:solidFill>
                <a:latin typeface="CentraleSans Medium" pitchFamily="50" charset="-94"/>
              </a:rPr>
              <a:t>? Bunun için uygulama önerileriniz neler olur?</a:t>
            </a:r>
            <a:endParaRPr lang="en-US" sz="1399" dirty="0">
              <a:solidFill>
                <a:srgbClr val="002F51"/>
              </a:solidFill>
              <a:latin typeface="CentraleSans Medium" pitchFamily="50" charset="-94"/>
            </a:endParaRPr>
          </a:p>
        </p:txBody>
      </p:sp>
      <p:pic>
        <p:nvPicPr>
          <p:cNvPr id="18" name="Resim 12">
            <a:extLst>
              <a:ext uri="{FF2B5EF4-FFF2-40B4-BE49-F238E27FC236}">
                <a16:creationId xmlns:a16="http://schemas.microsoft.com/office/drawing/2014/main" id="{3C689D29-9F7F-426F-B68C-71011817F750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8527769" y="6369819"/>
            <a:ext cx="437111" cy="437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714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eması">
  <a:themeElements>
    <a:clrScheme name="Office Teması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eması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eması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</TotalTime>
  <Words>135</Words>
  <Application>Microsoft Office PowerPoint</Application>
  <PresentationFormat>Ekran Gösterisi (4:3)</PresentationFormat>
  <Paragraphs>9</Paragraphs>
  <Slides>1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CentraleSans Medium</vt:lpstr>
      <vt:lpstr>CentraleSans XBold</vt:lpstr>
      <vt:lpstr>Office Teması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Aslı Karakaşlı</dc:creator>
  <cp:lastModifiedBy>Hilal Turan</cp:lastModifiedBy>
  <cp:revision>9</cp:revision>
  <dcterms:created xsi:type="dcterms:W3CDTF">2021-05-17T09:15:25Z</dcterms:created>
  <dcterms:modified xsi:type="dcterms:W3CDTF">2021-05-21T16:00:27Z</dcterms:modified>
</cp:coreProperties>
</file>